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CAPSTONE PROJECT 1ST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t>BizOps Intelligence</a:t>
            </a:r>
          </a:p>
          <a:p>
            <a:pPr>
              <a:defRPr sz="2300">
                <a:solidFill>
                  <a:srgbClr val="CBD5E1"/>
                </a:solidFill>
              </a:defRPr>
            </a:pPr>
            <a:r>
              <a:t>AI-Powered Business Operating Intelligence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3375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73152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Focused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84448"/>
            <a:ext cx="29535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Retail / Distribution scenario</a:t>
            </a:r>
            <a:br/>
            <a:r>
              <a:t>CSV + JSON input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17520"/>
            <a:ext cx="33375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01752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1821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Core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584448"/>
            <a:ext cx="29535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Canonical ontology</a:t>
            </a:r>
            <a:br/>
            <a:r>
              <a:t>Graph relationship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017520"/>
            <a:ext cx="33375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01752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31821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Trusted 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584448"/>
            <a:ext cx="29535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Deterministic analytics →</a:t>
            </a:r>
            <a:br/>
            <a:r>
              <a:t>evidence-linked grounded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[University Name]  |  [Department]  |  [Student Name(s)]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Supervisor: [Supervisor Name]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1. Problem &amp; 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The business already has data; the missing layer is evidence-based operational diagnosis.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3520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" cy="35204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Fragmented operational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0008"/>
            <a:ext cx="3090672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BD5E1"/>
                </a:solidFill>
              </a:defRPr>
            </a:pPr>
            <a:r>
              <a:t>Retail/distribution businesses store sales, inventory, supplier, customer and payment information in different files and systems.</a:t>
            </a:r>
            <a:br/>
            <a:br/>
            <a:r>
              <a:t>Even when data is available, relationships across events are difficult to trace.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3520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73152" cy="3520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476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Descriptive BI is not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50008"/>
            <a:ext cx="3090672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BD5E1"/>
                </a:solidFill>
              </a:defRPr>
            </a:pPr>
            <a:r>
              <a:t>Dashboards answer questions such as “what happened?”</a:t>
            </a:r>
            <a:br/>
            <a:br/>
            <a:r>
              <a:t>The harder questions are:</a:t>
            </a:r>
            <a:br/>
            <a:r>
              <a:t>• Why did it happen?</a:t>
            </a:r>
            <a:br/>
            <a:r>
              <a:t>• Which events caused it?</a:t>
            </a:r>
            <a:br/>
            <a:r>
              <a:t>• What is likely next?</a:t>
            </a:r>
            <a:br/>
            <a:r>
              <a:t>• What action is supported by evidence?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3520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73152" cy="3520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476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Gap addressed by BizOps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50008"/>
            <a:ext cx="3090672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CBD5E1"/>
                </a:solidFill>
              </a:defRPr>
            </a:pPr>
            <a:r>
              <a:t>A focused intelligence layer that converts structured business data into:</a:t>
            </a:r>
            <a:br/>
            <a:br/>
            <a:r>
              <a:t>Discovery → Diagnosis → Prediction → Recommendation → Grounded explanation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2.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How can structured business data be transformed into explainable operational decisions without letting the LLM invent numbers?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• Business events use different schemas and identifiers.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• Root causes can span products, suppliers, customers, inventory and sales events.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• Pure dashboards are descriptive; generic chatbots are not guaranteed to be numerically grounded.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• The project needs a reusable canonical model and graph to connect business evidence.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• The LLM should explain deterministic findings, not calculate business facts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783080"/>
            <a:ext cx="38404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783080"/>
            <a:ext cx="73152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947672"/>
            <a:ext cx="3456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Research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350008"/>
            <a:ext cx="345643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SEPARATE</a:t>
            </a:r>
            <a:br/>
            <a:br/>
            <a:r>
              <a:t>Deterministic ML / analytics</a:t>
            </a:r>
            <a:br/>
            <a:r>
              <a:t>        ↓</a:t>
            </a:r>
            <a:br/>
            <a:r>
              <a:t>Structured evidence</a:t>
            </a:r>
            <a:br/>
            <a:r>
              <a:t>        ↓</a:t>
            </a:r>
            <a:br/>
            <a:r>
              <a:t>Grounded LLM explanation</a:t>
            </a:r>
            <a:br/>
            <a:br/>
            <a:r>
              <a:t>This makes every answer traceable to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A focused Business Operations Intelligence prototype for retail/distribution.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CSV / JSON</a:t>
            </a:r>
            <a:br/>
            <a:br/>
            <a:r>
              <a:t>Data 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58568" y="2724912"/>
            <a:ext cx="210311" cy="0"/>
          </a:xfrm>
          <a:prstGeom prst="line">
            <a:avLst/>
          </a:prstGeom>
          <a:ln w="2794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96312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ETL + Validation</a:t>
            </a:r>
            <a:br/>
            <a:br/>
            <a:r>
              <a:t>Clean &amp; standardize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2724912"/>
            <a:ext cx="210311" cy="0"/>
          </a:xfrm>
          <a:prstGeom prst="line">
            <a:avLst/>
          </a:prstGeom>
          <a:ln w="2794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Canonical Ontology</a:t>
            </a:r>
            <a:br/>
            <a:br/>
            <a:r>
              <a:t>Unified business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62472" y="2724912"/>
            <a:ext cx="210312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Business Graph</a:t>
            </a:r>
            <a:br/>
            <a:br/>
            <a:r>
              <a:t>Connect events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64424" y="2724912"/>
            <a:ext cx="210312" cy="0"/>
          </a:xfrm>
          <a:prstGeom prst="line">
            <a:avLst/>
          </a:prstGeom>
          <a:ln w="2794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ML Analytics</a:t>
            </a:r>
            <a:br/>
            <a:br/>
            <a:r>
              <a:t>Detect + forecast + trace cause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66376" y="2724912"/>
            <a:ext cx="210312" cy="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057400"/>
            <a:ext cx="1664208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Grounded RAG</a:t>
            </a:r>
            <a:br/>
            <a:br/>
            <a:r>
              <a:t>Explain 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160520"/>
            <a:ext cx="85039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416052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4325112"/>
            <a:ext cx="8119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727448"/>
            <a:ext cx="811987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A business user can ask: “Why did profit decline?” and receive a deterministic diagnosis plus an evidence-linked explanation and recommended next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4. Reduced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Scope is intentionally constrained to make the six-month implementation realistic.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290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73152" cy="38404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0008"/>
            <a:ext cx="3044952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Only 1–2 static file formats:</a:t>
            </a:r>
            <a:br/>
            <a:br/>
            <a:r>
              <a:t>✓ CSV</a:t>
            </a:r>
            <a:br/>
            <a:r>
              <a:t>✓ JSON</a:t>
            </a:r>
            <a:br/>
            <a:br/>
            <a:r>
              <a:t>No live API connectors in the MVP.</a:t>
            </a:r>
            <a:br/>
            <a:br/>
            <a:r>
              <a:t>Datasets represent sales, inventory, products, customers, suppliers, orders and payments.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290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73152" cy="3840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TARGET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50008"/>
            <a:ext cx="3044952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ONE core scenario:</a:t>
            </a:r>
            <a:br/>
            <a:br/>
            <a:r>
              <a:t>✓ Retail / Distribution</a:t>
            </a:r>
            <a:br/>
            <a:br/>
            <a:r>
              <a:t>Primary questions:</a:t>
            </a:r>
            <a:br/>
            <a:r>
              <a:t>• margin decline</a:t>
            </a:r>
            <a:br/>
            <a:r>
              <a:t>• inventory anomalies</a:t>
            </a:r>
            <a:br/>
            <a:r>
              <a:t>• supplier impact</a:t>
            </a:r>
            <a:br/>
            <a:r>
              <a:t>• demand / sales trend</a:t>
            </a:r>
            <a:br/>
            <a:r>
              <a:t>• customer/order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4290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83080"/>
            <a:ext cx="73152" cy="3840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4767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OPEN-SOURCE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50008"/>
            <a:ext cx="3044952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CBD5E1"/>
                </a:solidFill>
              </a:defRPr>
            </a:pPr>
            <a:r>
              <a:t>Pandas → ETL</a:t>
            </a:r>
            <a:br/>
            <a:r>
              <a:t>scikit-learn / Statsmodels → ML</a:t>
            </a:r>
            <a:br/>
            <a:r>
              <a:t>PyRCA → root-cause tracing</a:t>
            </a:r>
            <a:br/>
            <a:r>
              <a:t>LangChain / LlamaIndex → RAG orchestration</a:t>
            </a:r>
            <a:br/>
            <a:br/>
            <a:r>
              <a:t>Student effort stays focused on the intelligence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The core pipeline separates data engineering, deterministic analysis, and generative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1. Data Intake</a:t>
            </a:r>
            <a:br/>
            <a:r>
              <a:t>CSV / JSON upload + schema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13432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2. ETL &amp; Canonicalization</a:t>
            </a:r>
            <a:br/>
            <a:r>
              <a:t>Pandas cleaning, type normalization, entity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72384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3. Canonical Business Model</a:t>
            </a:r>
            <a:br/>
            <a:r>
              <a:t>Products, customers, suppliers, orders, inventory, payments,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31335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4. Business Graph</a:t>
            </a:r>
            <a:br/>
            <a:r>
              <a:t>Relationship mapping across entities and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90288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5. Deterministic Intelligence</a:t>
            </a:r>
            <a:br/>
            <a:r>
              <a:t>KPIs, anomaly detection, forecasting, root-cause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47548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6. Grounded RAG + UI</a:t>
            </a:r>
            <a:br/>
            <a:r>
              <a:t>Evidence package → LLM explanation → natural-language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6634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73152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64792"/>
            <a:ext cx="4279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Trust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167128"/>
            <a:ext cx="4279392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The LLM never becomes the source of truth.</a:t>
            </a:r>
            <a:br/>
            <a:br/>
            <a:r>
              <a:t>Business calculations come from deterministic analytics and ML outputs.</a:t>
            </a:r>
            <a:br/>
            <a:br/>
            <a:r>
              <a:t>The RAG layer receives structured evidence, metric values, contributing records and assumptions.</a:t>
            </a:r>
            <a:br/>
            <a:br/>
            <a:r>
              <a:t>Every generated answer must cite the internal evidence used by the explanation.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6. Student Contribution #1 — Canonical Business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A reusable ontology converts messy retail/distribution records into one consistent business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Supplier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82880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2880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OrderItem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379476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79476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9476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79476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3794760"/>
            <a:ext cx="1554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KPI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157984"/>
            <a:ext cx="5486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157984"/>
            <a:ext cx="5486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2157984"/>
            <a:ext cx="5486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2157984"/>
            <a:ext cx="5486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2487168"/>
            <a:ext cx="685800" cy="130759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487168"/>
            <a:ext cx="685800" cy="130759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2487168"/>
            <a:ext cx="274320" cy="130759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2487168"/>
            <a:ext cx="320039" cy="130759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098280" y="2487168"/>
            <a:ext cx="868680" cy="130759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4709160"/>
            <a:ext cx="106070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70916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873752"/>
            <a:ext cx="10222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Contribution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276088"/>
            <a:ext cx="1022299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CBD5E1"/>
                </a:solidFill>
              </a:defRPr>
            </a:pPr>
            <a:r>
              <a:t>You define the canonical entities, identifiers, attributes and mappings so that different source schemas can be analyzed as one business model.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7. Student Contribution #2 — Graph Relationship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The graph links business events so root causes can be traced across entities and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55448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Sales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057400"/>
            <a:ext cx="18288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High-return SKU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057400"/>
            <a:ext cx="18288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Supplier cost 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057400"/>
            <a:ext cx="18288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Inventory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057400"/>
            <a:ext cx="155448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Margin 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423160"/>
            <a:ext cx="411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2423160"/>
            <a:ext cx="4572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03720" y="2423160"/>
            <a:ext cx="4572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89720" y="2423160"/>
            <a:ext cx="4572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383280"/>
            <a:ext cx="48920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73152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4507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Root-cause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950208"/>
            <a:ext cx="450799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The graph lets the system move from an observed KPI change to related products, orders, suppliers, inventory events and timestamps.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48920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383280"/>
            <a:ext cx="73152" cy="16459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547872"/>
            <a:ext cx="4507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Why this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950208"/>
            <a:ext cx="450799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Instead of showing five separate charts, the system constructs one evidence chain that can be passed to the explanation layer.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8. Student Contribution #3 — Grounded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Natural-language answers are generated only from structured analytical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965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ML Result</a:t>
            </a:r>
            <a:br/>
            <a:br/>
            <a:r>
              <a:t>Profit ↓ 8.4%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39" y="2743200"/>
            <a:ext cx="210313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07791" y="2148840"/>
            <a:ext cx="1965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Evidence Package</a:t>
            </a:r>
            <a:br/>
            <a:br/>
            <a:r>
              <a:t>KPI + contributing records + graph path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73752" y="2743200"/>
            <a:ext cx="210312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75504" y="2148840"/>
            <a:ext cx="1965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Retriever</a:t>
            </a:r>
            <a:br/>
            <a:br/>
            <a:r>
              <a:t>Relevant evidence chunks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41464" y="2743200"/>
            <a:ext cx="210311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43216" y="2148840"/>
            <a:ext cx="1965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LLM</a:t>
            </a:r>
            <a:br/>
            <a:br/>
            <a:r>
              <a:t>Explain the finding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09176" y="2743200"/>
            <a:ext cx="210312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10928" y="2148840"/>
            <a:ext cx="1965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Answer</a:t>
            </a:r>
            <a:br/>
            <a:br/>
            <a:r>
              <a:t>Evidence-linked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160520"/>
            <a:ext cx="1014984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4160520"/>
            <a:ext cx="73152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325112"/>
            <a:ext cx="9765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100% evidence-linked output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727448"/>
            <a:ext cx="976579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The LLM is not allowed to invent KPI values. Numerical values, trends and root-cause claims must originate from deterministic calculations or retrieved source records. The response should state evidence and uncertainty where applicable.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9. Example Retail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Illustrative end-to-end flow for the final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0574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1673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16733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CBD5E1"/>
                </a:solidFill>
              </a:defRPr>
            </a:pPr>
            <a:r>
              <a:t>Profit margin falls</a:t>
            </a:r>
            <a:br/>
            <a:r>
              <a:t>8.4%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737360"/>
            <a:ext cx="20574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73736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901952"/>
            <a:ext cx="1673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304288"/>
            <a:ext cx="16733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CBD5E1"/>
                </a:solidFill>
              </a:defRPr>
            </a:pPr>
            <a:r>
              <a:t>Three high-volume SKUs show</a:t>
            </a:r>
            <a:br/>
            <a:r>
              <a:t>input-cost increases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737360"/>
            <a:ext cx="20574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73736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901952"/>
            <a:ext cx="1673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Graph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304288"/>
            <a:ext cx="16733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CBD5E1"/>
                </a:solidFill>
              </a:defRPr>
            </a:pPr>
            <a:r>
              <a:t>Supplier → Product → Order →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737360"/>
            <a:ext cx="20574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737360"/>
            <a:ext cx="73152" cy="13258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1901952"/>
            <a:ext cx="1673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304288"/>
            <a:ext cx="16733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CBD5E1"/>
                </a:solidFill>
              </a:defRPr>
            </a:pPr>
            <a:r>
              <a:t>Margin pressure continues</a:t>
            </a:r>
            <a:br/>
            <a:r>
              <a:t>next month if 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737360"/>
            <a:ext cx="18288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20" y="17373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1901952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304288"/>
            <a:ext cx="14447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CBD5E1"/>
                </a:solidFill>
              </a:defRPr>
            </a:pPr>
            <a:r>
              <a:t>Renegotiate +</a:t>
            </a:r>
            <a:br/>
            <a:r>
              <a:t>selective repricing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2395728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2395728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23760" y="2395728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64040" y="2395728"/>
            <a:ext cx="182879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5840" y="3886200"/>
            <a:ext cx="480060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388620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4050791"/>
            <a:ext cx="4416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Natural-language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453128"/>
            <a:ext cx="44165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“Why is profit falling even though revenue is stable?”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86200"/>
            <a:ext cx="49377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88620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050791"/>
            <a:ext cx="4553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Evidence-linked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453128"/>
            <a:ext cx="455371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CBD5E1"/>
                </a:solidFill>
              </a:defRPr>
            </a:pPr>
            <a:r>
              <a:t>“Margin fell because supplier cost increased on 3 high-volume products. The graph connects the affected SKUs to supplier price events and recent orders.”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10. Evaluation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The project will be evaluated as a technical research prototype, not as a complete ERP.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40690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Data &amp;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3044952" cy="337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Schema mapping accuracy</a:t>
            </a:r>
            <a:br/>
            <a:r>
              <a:t>• Entity resolution accuracy</a:t>
            </a:r>
            <a:br/>
            <a:r>
              <a:t>• Graph relationship correctness</a:t>
            </a:r>
            <a:br/>
            <a:r>
              <a:t>• Data validation error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4069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ML / 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04288"/>
            <a:ext cx="3044952" cy="337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Anomaly precision / recall</a:t>
            </a:r>
            <a:br/>
            <a:r>
              <a:t>• Forecast MAE / RMSE</a:t>
            </a:r>
            <a:br/>
            <a:r>
              <a:t>• Root-cause trace accuracy</a:t>
            </a:r>
            <a:br/>
            <a:r>
              <a:t>• Comparison with baseline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73152" cy="4069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0195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Grounded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04288"/>
            <a:ext cx="3044952" cy="337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Evidence retrieval accuracy</a:t>
            </a:r>
            <a:br/>
            <a:r>
              <a:t>• Evidence-linked answer rate</a:t>
            </a:r>
            <a:br/>
            <a:r>
              <a:t>• Unsupported numeric claim rate</a:t>
            </a:r>
            <a:br/>
            <a:r>
              <a:t>• User task completion / usefulness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11. Six-Month Development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Focused milestones aligned with the reduced MVP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691640" cy="1005840"/>
          </a:xfrm>
          <a:prstGeom prst="roundRect">
            <a:avLst/>
          </a:prstGeom>
          <a:solidFill>
            <a:srgbClr val="2663E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Requirements + dataset design</a:t>
            </a:r>
            <a:br/>
            <a:r>
              <a:t>Architecture + UI skeleton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87752" y="1965960"/>
            <a:ext cx="1691640" cy="1005840"/>
          </a:xfrm>
          <a:prstGeom prst="roundRect">
            <a:avLst/>
          </a:prstGeom>
          <a:solidFill>
            <a:srgbClr val="2663E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7752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CSV/JSON ETL</a:t>
            </a:r>
            <a:br/>
            <a:r>
              <a:t>Canonical ontology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9704" y="1965960"/>
            <a:ext cx="1691640" cy="1005840"/>
          </a:xfrm>
          <a:prstGeom prst="roundRect">
            <a:avLst/>
          </a:prstGeom>
          <a:solidFill>
            <a:srgbClr val="2663E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Business graph</a:t>
            </a:r>
            <a:br/>
            <a:r>
              <a:t>KPI engine + anomalies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1965960"/>
            <a:ext cx="1691640" cy="10058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Forecasting + PyRCA</a:t>
            </a:r>
            <a:br/>
            <a:r>
              <a:t>Evidence 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3608" y="1965960"/>
            <a:ext cx="1691640" cy="10058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3608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Grounded RAG</a:t>
            </a:r>
            <a:br/>
            <a:r>
              <a:t>Q&amp;A +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1965960"/>
            <a:ext cx="1691640" cy="10058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3154680"/>
            <a:ext cx="1691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CBD5E1"/>
                </a:solidFill>
              </a:defRPr>
            </a:pPr>
            <a:r>
              <a:t>Testing + evaluation</a:t>
            </a:r>
            <a:br/>
            <a:r>
              <a:t>Security + final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74920"/>
            <a:ext cx="103784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07492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239512"/>
            <a:ext cx="9994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Scope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641848"/>
            <a:ext cx="999439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No live API ecosystem, no multi-industry implementation, and no autonomous high-risk actions in the capstone MVP.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12. Expected Outcome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Deliver a defensible MVP now; keep the broader Business Operating System as the future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07492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" cy="3383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Capstone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0008"/>
            <a:ext cx="4690872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A working retail/distribution prototype that performs:</a:t>
            </a:r>
            <a:br/>
            <a:br/>
            <a:r>
              <a:t>CSV/JSON → canonical model → business graph → deterministic analytics → root-cause / forecast → evidence package → grounded natural-language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07492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73152" cy="3383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4767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Future Business 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50008"/>
            <a:ext cx="4690872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Later expansion can add:</a:t>
            </a:r>
            <a:br/>
            <a:r>
              <a:t>• live connectors</a:t>
            </a:r>
            <a:br/>
            <a:r>
              <a:t>• more industries</a:t>
            </a:r>
            <a:br/>
            <a:r>
              <a:t>• real-time events</a:t>
            </a:r>
            <a:br/>
            <a:r>
              <a:t>• governed AI agents</a:t>
            </a:r>
            <a:br/>
            <a:r>
              <a:t>• controlled action execution</a:t>
            </a:r>
            <a:br/>
            <a:r>
              <a:t>• enterprise security / auditability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5440680"/>
            <a:ext cx="89611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544068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5688" y="5605272"/>
            <a:ext cx="8577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Core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6007608"/>
            <a:ext cx="8577072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Diagnostic over descriptive • Evidence over hallucination • Reusable architecture over one-off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13. 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Key sources used to frame the problem and the technical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OECD (2026), “Empowering SMEs in the Age of AI.”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McKinsey (2026), “The State of AI: Global Survey 2026.”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McKinsey (2026), “AI data readiness: The key to scaling impact.”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Salesforce (2026), “Connectivity Benchmark Report.”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PyRCA project documentation — automated root-cause analysis toolkit.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Pandas documentation — data processing and ETL.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scikit-learn / Statsmodels documentation — anomaly detection and forecasting.</a:t>
            </a:r>
          </a:p>
          <a:p>
            <a:pPr>
              <a:spcAft>
                <a:spcPts val="1100"/>
              </a:spcAft>
              <a:defRPr sz="1500">
                <a:solidFill>
                  <a:srgbClr val="F8FAFC"/>
                </a:solidFill>
              </a:defRPr>
            </a:pPr>
            <a:r>
              <a:t>• LangChain / LlamaIndex documentation — LLM orchestration and RAG.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0196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BizOps Intelligence | Capstone Project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